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5600" b="1">
                <a:solidFill>
                  <a:srgbClr val="F1F5F9"/>
                </a:solidFill>
                <a:latin typeface="Arial"/>
              </a:defRPr>
            </a:pPr>
            <a:r>
              <a:t>AALeC Quiz</a:t>
            </a:r>
            <a:br/>
            <a:r>
              <a:t>System</a:t>
            </a:r>
          </a:p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Technische Dokumentation des IoT-Quiz-Systems mit</a:t>
            </a:r>
            <a:br/>
            <a:r>
              <a:t>ESP8266-Hardware, Python-Backend und Next.js-Beamer-Schnittstelle.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Hardware: ESP8266 (C++)  |  Backend: Python (paho-mqtt)</a:t>
            </a:r>
            <a:br/>
            <a:r>
              <a:t>Broker: Mosquitto  |  Frontend-Anzeige: Next.js (TypeScript)</a:t>
            </a:r>
          </a:p>
        </p:txBody>
      </p:sp>
      <p:pic>
        <p:nvPicPr>
          <p:cNvPr id="5" name="Picture 4" descr="buzzer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Systembeschreibung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Das AALeC-Quiz ist ein hardwarebasiertes Multiplayer-Quizsystem für Gruppenaktivitäten.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Spieler nutzen physische Client-Geräte (AALeC V3) zur Eingabe von Antworten und Messwerten anstelle von Smartphones.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Die Datenübertragung erfolgt ereignisgesteuert über ein lokales WLAN-Netzwerk mittels des MQTT-Protokolls.</a:t>
            </a:r>
          </a:p>
          <a:p>
            <a:pPr>
              <a:spcAft>
                <a:spcPts val="15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Die Beamer UI (Next.js-Präsentationsschicht) visualisiert Fragen, Timer und Ranglisten in Echtzeit.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42976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Spielablauf</a:t>
            </a:r>
          </a:p>
          <a:p>
            <a:pPr>
              <a:spcAft>
                <a:spcPts val="1000"/>
              </a:spcAft>
              <a:defRPr sz="1500">
                <a:solidFill>
                  <a:srgbClr val="F1F5F9"/>
                </a:solidFill>
                <a:latin typeface="Calibri"/>
              </a:defRPr>
            </a:pPr>
            <a:r>
              <a:t>Die physischen Controller verbinden sich nach dem Start automatisch mit dem lokalen Access Point, registrieren sich am Game Master und warten auf den Spielstart.</a:t>
            </a:r>
            <a:br/>
            <a:br/>
            <a:r>
              <a:t>Die Fragen-Metadaten werden parallel verteilt. Die Antwortdaten (Werte und Latenz in Millisekunden) werden über den Broker zurück an das Python-Backend übermittelt.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Netzwerk- und Systemarchitektur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WLAN-Access-Point: Stellt das lokale Netzwerk 'AALeC-Quiz' (192.168.4.0/24) bereit.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MQTT Broker (Mosquitto): Verwaltet Verbindungen für Clients (TCP 1883) und Beamer-Anzeige (WebSockets 9001).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Game Master (Python): Führt das Regelsystem aus, verarbeitet Antworten und steuert Statusänderungen.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Beamer UI (Next.js): Dashboard im Browser des Projektions-Rechners, holt Spieldaten live über MQTT-WebSockets.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2286000" cy="9144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WLAN AP</a:t>
            </a:r>
            <a:br/>
            <a:r>
              <a:t>SSID: AALeC-Quiz</a:t>
            </a:r>
          </a:p>
        </p:txBody>
      </p:sp>
      <p:sp>
        <p:nvSpPr>
          <p:cNvPr id="7" name="Down Arrow 6"/>
          <p:cNvSpPr/>
          <p:nvPr/>
        </p:nvSpPr>
        <p:spPr>
          <a:xfrm>
            <a:off x="8595360" y="2331720"/>
            <a:ext cx="457200" cy="365760"/>
          </a:xfrm>
          <a:prstGeom prst="downArrow">
            <a:avLst/>
          </a:prstGeom>
          <a:solidFill>
            <a:srgbClr val="262D3A"/>
          </a:solidFill>
          <a:ln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2743200"/>
            <a:ext cx="2286000" cy="9144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880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</a:defRPr>
            </a:pPr>
            <a:r>
              <a:t>Mosquitto Broker</a:t>
            </a:r>
            <a:br/>
            <a:r>
              <a:t>Port 1883 &amp; 9001 (WS)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297680"/>
            <a:ext cx="1920240" cy="109728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3891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AALeC Controller</a:t>
            </a:r>
            <a:br/>
            <a:r>
              <a:t>ESP8266 Client</a:t>
            </a:r>
            <a:br/>
            <a:r>
              <a:t>(TCP 1883)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297680"/>
            <a:ext cx="2103120" cy="109728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43891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Mac OS Host (Docker)</a:t>
            </a:r>
            <a:br/>
            <a:r>
              <a:t>- Python GM (1883)</a:t>
            </a:r>
            <a:br/>
            <a:r>
              <a:t>- Next.js UI (WS 9001)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8549640" y="3749040"/>
            <a:ext cx="548640" cy="457200"/>
          </a:xfrm>
          <a:prstGeom prst="leftRightArrow">
            <a:avLst/>
          </a:prstGeom>
          <a:solidFill>
            <a:srgbClr val="262D3A"/>
          </a:solidFill>
          <a:ln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Right Arrow 14"/>
          <p:cNvSpPr/>
          <p:nvPr/>
        </p:nvSpPr>
        <p:spPr>
          <a:xfrm>
            <a:off x="8549640" y="4617720"/>
            <a:ext cx="548640" cy="457200"/>
          </a:xfrm>
          <a:prstGeom prst="leftRightArrow">
            <a:avLst/>
          </a:prstGeom>
          <a:solidFill>
            <a:srgbClr val="262D3A"/>
          </a:solidFill>
          <a:ln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Controller-Hardware (AALeC V3)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Prozessor: ESP8266 NodeMCU mit integriertem WLAN-Modul.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Display: Monochrome OLED-Anzeige (128x64 Pixel) zur Darstellung von Verbindungsinformationen und Antwortoptionen.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LED-Statusleiste: 5x WS2812B adressierbare LEDs visualisieren den Zeitverlauf (Countdown) oder Systemzustände.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Bedienelemente: Drehgeber (Rotary Encoder) mit Taster dient zur Menüeingabe und Antwortbestätigung.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Sensorik: Analoges Potentiometer (0-100%) und DS18B20-Temperatursensor für physikalische Messaufgaben.</a:t>
            </a:r>
          </a:p>
        </p:txBody>
      </p:sp>
      <p:pic>
        <p:nvPicPr>
          <p:cNvPr id="5" name="Picture 4" descr="buzzer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3891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Backend - Game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Python-Dienst zur logischen Steuerung des Quizablaufs.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Kern-Zustandsmaschine: WAITING ➔ QUESTION ➔ VOTING ➔ REVEAL ➔ SCORES ➔ (NEXT/ENDED).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Antwortüberwachung: Schließt Abstimmungsrunden vorzeitig, sobald alle registrierten Online-Spieler geantwortet haben.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Verbindungsstatus: Erkennt Disconnects über LWT-Nachrichten (Last Will) und passt die aktive Spieleranzahl dynamisch 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480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Punktemodelle</a:t>
            </a:r>
          </a:p>
          <a:p>
            <a:pPr>
              <a:defRPr sz="1250">
                <a:solidFill>
                  <a:srgbClr val="F1F5F9"/>
                </a:solidFill>
                <a:latin typeface="Calibri"/>
              </a:defRPr>
            </a:pPr>
            <a:r>
              <a:t>- MCQ &amp; Höher/Niedriger:</a:t>
            </a:r>
            <a:br/>
            <a:r>
              <a:t>  1000 Basispunkte bei korrekter Antwort + maximal 500 Zeitbonus (linear sinkend über die Antwortdauer) + Serie-Bonus (+200 pro Runde in Serie, maximal +600).</a:t>
            </a:r>
            <a:br/>
            <a:br/>
            <a:r>
              <a:t>- Schätzfragen:</a:t>
            </a:r>
            <a:br/>
            <a:r>
              <a:t>  Gestufte Punkteverteilung nach relativer Abweichung zum echten Wert (100% Punkte bei exakt, 80% innerhalb 5%, abnehmend bis 20% innerhalb 30% Abweichung).</a:t>
            </a:r>
            <a:br/>
            <a:br/>
            <a:r>
              <a:t>- Poti- &amp; Temperatur-Challenges:</a:t>
            </a:r>
            <a:br/>
            <a:r>
              <a:t>  Lineare Punkteermittlung innerhalb des Toleranzfensters (z.B. ±5% oder ±1.5°C). Volle Punkte bei exakter Übereinstimmung.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Beamer-Präsentationsschicht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Web-Applikation auf Basis von Next.js, React und TypeScript.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Kommunikation: Nutzt MQTT.js über WebSockets zur Echtzeit-Synchronisation mit dem Broker.</a:t>
            </a:r>
          </a:p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Unterstützte Ansichten:</a:t>
            </a:r>
            <a:br/>
            <a:r>
              <a:t>  - Lobby: Spielerauflistung und Bereitschaftsstatus. Ermöglicht Spielstart.</a:t>
            </a:r>
            <a:br/>
            <a:r>
              <a:t>  - Frage: Darstellung der aktiven Aufgabe, Antwortoptionen und verbleibenden Ablaufzeit.</a:t>
            </a:r>
            <a:br/>
            <a:r>
              <a:t>  - Auflösung (Reveal): Verteilung der abgegebenen Antworten.</a:t>
            </a:r>
            <a:br/>
            <a:r>
              <a:t>  - Rangliste (Scoreboard): Platzierungen sortiert nach Gesamtpunkten.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Gestaltung und Anzeige</a:t>
            </a:r>
          </a:p>
          <a:p>
            <a:pPr>
              <a:spcAft>
                <a:spcPts val="1000"/>
              </a:spcAft>
              <a:defRPr sz="1400">
                <a:solidFill>
                  <a:srgbClr val="F1F5F9"/>
                </a:solidFill>
                <a:latin typeface="Calibri"/>
              </a:defRPr>
            </a:pPr>
            <a:r>
              <a:t>Das User Interface ist speziell für die Projektion auf Leinwände optimiert. Kontrastreiche, einheitliche Zustandselemente sorgen für Übersichtlichkeit.</a:t>
            </a:r>
            <a:br/>
            <a:br/>
            <a:r>
              <a:t>Die Rangliste verwendet automatische Sortierungen und Platzierungscharts, um Verschiebungen in der Punkteverteilung nach jeder Spielrunde abzubilden.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MQTT-Kommunikationsprotokoll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57200"/>
          </a:xfrm>
          <a:prstGeom prst="roundRect">
            <a:avLst/>
          </a:prstGeom>
          <a:solidFill>
            <a:srgbClr val="1E233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   Topic                                       Richtung              Bedeutung / Payload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quiz/state                               GM -&gt; Alle           Überträgt den aktuellen Systemzustand (WAITING, VOTING, etc.)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quiz/question                            GM -&gt; Alle           Überträgt Fragendetails (Typ, Limits, Antwortoptionen)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quiz/connect/+                           AALeC -&gt; GM          Anmeldung eines Controllers am Game 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79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13631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quiz/disconnect/+                        AALeC -&gt; GM          Last-Will-Topic: Meldet Verbindungsabbruch eines 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80560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5371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quiz/answer/+                            AALeC -&gt; GM          Absenden der Antwort inklusive gemessener Latenzzeit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20640"/>
            <a:ext cx="10817352" cy="54864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9379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1F5F9"/>
                </a:solidFill>
                <a:latin typeface="Calibri"/>
              </a:defRPr>
            </a:pPr>
            <a:r>
              <a:t>quiz/control                             Web -&gt; GM            Schnittstelle für Ablaufbefehle (starten, zurücksetzen)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Inbetriebnahme &amp; Bereitstellung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468880" cy="41148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SCHRITT 1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Arial"/>
              </a:defRPr>
            </a:pPr>
            <a:r>
              <a:t>WLAN-Setup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Access Point bereitstellen:</a:t>
            </a:r>
            <a:br/>
            <a:br/>
            <a:r>
              <a:t>SSID: 'AALeC-Quiz'</a:t>
            </a:r>
            <a:br/>
            <a:r>
              <a:t>Passwort: '12345678'</a:t>
            </a:r>
            <a:br/>
            <a:r>
              <a:t>IP-Bereich: 192.168.4.X</a:t>
            </a:r>
            <a:br/>
            <a:br/>
            <a:r>
              <a:t>Broker-IP ermitteln.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1148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B308"/>
                </a:solidFill>
                <a:latin typeface="Arial"/>
              </a:defRPr>
            </a:pPr>
            <a:r>
              <a:t>SCHRITT 2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Arial"/>
              </a:defRPr>
            </a:pPr>
            <a:r>
              <a:t>Firmware Flash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Einrichten der Broker-IP in 'config.h'.</a:t>
            </a:r>
            <a:br/>
            <a:br/>
            <a:r>
              <a:t>Kompilieren und flashen des Controllers über PlatformIO:</a:t>
            </a:r>
            <a:br/>
            <a:r>
              <a:t>'pio run -t upload'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2468880" cy="41148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2C55E"/>
                </a:solidFill>
                <a:latin typeface="Arial"/>
              </a:defRPr>
            </a:pPr>
            <a:r>
              <a:t>SCHRITT 3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Arial"/>
              </a:defRPr>
            </a:pPr>
            <a:r>
              <a:t>Docker Compose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Starten der Server-Infrastruktur auf dem Host-System:</a:t>
            </a:r>
            <a:br/>
            <a:br/>
            <a:r>
              <a:t>'docker compose up -d'</a:t>
            </a:r>
            <a:br/>
            <a:br/>
            <a:r>
              <a:t>(Mosquitto, Game Master, Web)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463040"/>
            <a:ext cx="2468880" cy="4114800"/>
          </a:xfrm>
          <a:prstGeom prst="roundRect">
            <a:avLst/>
          </a:prstGeom>
          <a:solidFill>
            <a:srgbClr val="181C25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645920"/>
            <a:ext cx="21945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  <a:latin typeface="Arial"/>
              </a:defRPr>
            </a:pPr>
            <a:r>
              <a:t>SCHRITT 4</a:t>
            </a:r>
          </a:p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Arial"/>
              </a:defRPr>
            </a:pPr>
            <a:r>
              <a:t>Spielsteuerung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Beamer-Dashboard im Webbrowser aufrufen.</a:t>
            </a:r>
            <a:br/>
            <a:br/>
            <a:r>
              <a:t>Physische Controller verbinden sich automatisch nach dem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solidFill>
              <a:srgbClr val="0F1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1F5F9"/>
                </a:solidFill>
                <a:latin typeface="Arial"/>
              </a:defRPr>
            </a:pPr>
            <a:r>
              <a:t>Zusammenfassung</a:t>
            </a:r>
          </a:p>
          <a:p>
            <a:pPr algn="ctr">
              <a:spcAft>
                <a:spcPts val="25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Das AALeC-Quizsystem demonstriert die Integration physischer IoT-Controller in eine ereignisgesteuerte Web-Architektur.</a:t>
            </a:r>
            <a:br/>
            <a:br/>
            <a:r>
              <a:t>Der Einsatz von MQTT ermöglicht niedrige Latenzzeiten und lokalen Betrieb ohne externe Internetverbindung.</a:t>
            </a:r>
            <a:br/>
            <a:br/>
            <a:r>
              <a:t>Die funktionale Trennung von Hardware, Backend-Logik und Dashboard sorgt für Wartbarkeit und Erweiterbarkeit.</a:t>
            </a:r>
          </a:p>
          <a:p>
            <a:pPr algn="ctr">
              <a:defRPr sz="2000" b="1">
                <a:solidFill>
                  <a:srgbClr val="22C55E"/>
                </a:solidFill>
                <a:latin typeface="Arial"/>
              </a:defRPr>
            </a:pPr>
            <a:r>
              <a:t>Ende der Präsentation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09360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  <a:latin typeface="Calibri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